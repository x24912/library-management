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📚 图书借阅管理系统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90FF"/>
                </a:solidFill>
                <a:latin typeface="Microsoft YaHei"/>
              </a:defRPr>
            </a:pPr>
            <a:r>
              <a:t>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前端技术：Vue 3 + Vite + Pinia + Vue Router</a:t>
            </a:r>
          </a:p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后端技术：Java Servlet + Maven + MySQL</a:t>
            </a:r>
          </a:p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系统架构：前后端分离架构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项目汇报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📋 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01  项目概述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02  技术栈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03  系统架构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04  前端项目结构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05  前端功能模块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06  后端项目结构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07  后端分层架构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08  数据库设计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09  核心功能演示</a:t>
            </a:r>
          </a:p>
          <a:p>
            <a:pPr>
              <a:spcAft>
                <a:spcPts val="176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10  项目亮点与总结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01  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4864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🎯 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随着信息化时代的快速发展，传统图书馆管理方式面临效率低下、数据统计困难、借阅流程繁琐等问题。本项目旨在开发一套现代化的图书借阅管理系统，实现图书、读者、借阅、罚款等全面数字化管理，提升图书馆运营效率和服务质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54864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🚀 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实现图书信息增删改查管理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实现读者信息管理及借阅额度控制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实现图书借阅与归还流程管理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实现逾期自动计算罚款功能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提供图书分类管理及借阅天数配置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提供图书评价与热门排行榜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✅ 支持分页搜索、模糊查询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888888"/>
                </a:solidFill>
                <a:latin typeface="Microsoft YaHei"/>
              </a:defRPr>
            </a:pPr>
            <a:r>
              <a:t>📂 前端项目：E:\vue\library-vue    |    📂 后端项目：D:\javapocter\library-management</a:t>
            </a:r>
          </a:p>
          <a:p>
            <a:pPr>
              <a:spcAft>
                <a:spcPts val="650"/>
              </a:spcAft>
              <a:defRPr sz="1300">
                <a:solidFill>
                  <a:srgbClr val="888888"/>
                </a:solidFill>
                <a:latin typeface="Microsoft YaHei"/>
              </a:defRPr>
            </a:pPr>
            <a:r>
              <a:t>🗄️  数据库：MySQL (library_db)       |    ☕ JDK 8 + Tomcat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02  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4FC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1280160" cy="27432"/>
          </a:xfrm>
          <a:prstGeom prst="rect">
            <a:avLst/>
          </a:prstGeom>
          <a:solidFill>
            <a:srgbClr val="4FC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Vue 3 (Composition API)</a:t>
            </a:r>
            <a:br/>
            <a:r>
              <a:t>Vite 8 构建工具</a:t>
            </a:r>
            <a:br/>
            <a:r>
              <a:t>Pinia 状态管理</a:t>
            </a:r>
            <a:br/>
            <a:r>
              <a:t>Vue Router 路由</a:t>
            </a:r>
            <a:br/>
            <a:r>
              <a:t>Axios HTTP 请求</a:t>
            </a:r>
            <a:br/>
            <a:r>
              <a:t>ES Modules 模块化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后端技术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39" y="2926080"/>
            <a:ext cx="128016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Java 8 + Maven</a:t>
            </a:r>
            <a:br/>
            <a:r>
              <a:t>Servlet 4.0 API</a:t>
            </a:r>
            <a:br/>
            <a:r>
              <a:t>JDBC 数据库连接</a:t>
            </a:r>
            <a:br/>
            <a:r>
              <a:t>Gson JSON 序列化</a:t>
            </a:r>
            <a:br/>
            <a:r>
              <a:t>JSTL 标签库</a:t>
            </a:r>
            <a:br/>
            <a:r>
              <a:t>过滤器 (Filter)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数据库与工具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926080"/>
            <a:ext cx="1280160" cy="27432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MySQL 8.0</a:t>
            </a:r>
            <a:br/>
            <a:r>
              <a:t>MySQL Connector/J</a:t>
            </a:r>
            <a:br/>
            <a:r>
              <a:t>Tomcat 9 服务器</a:t>
            </a:r>
            <a:br/>
            <a:r>
              <a:t>Git 版本控制</a:t>
            </a:r>
            <a:br/>
            <a:r>
              <a:t>IntelliJ IDEA + VS Code</a:t>
            </a:r>
            <a:br/>
            <a:r>
              <a:t>Postman API 测试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03  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前端 - Vue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视图层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App.vue (导航/布局)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BookList.vue, ReaderList.vue 等页面组件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Pagination.vue 公共组件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路由层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Vue Router (createWebHistory)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7大模块路由配置 (22条路由)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数据层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Pinia 状态管理 (stores/)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Axios HTTP 客户端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API 封装 (api/index.js)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2004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890FF"/>
                </a:solidFill>
                <a:latin typeface="Microsoft YaHei"/>
              </a:defRPr>
            </a:pPr>
            <a:r>
              <a:t>⬌</a:t>
            </a:r>
            <a:br/>
            <a:r>
              <a:t>API</a:t>
            </a:r>
            <a:br/>
            <a:r>
              <a:t>HTTP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后端 - Java Servlet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0292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Servlet 控制层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BookServlet, ReaderServlet...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@WebServlet /api/*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Service 业务层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BookServiceImpl, BorrowRecordServiceImpl...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业务逻辑处理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DAO 数据访问层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BookDaoImpl, ReaderDaoImpl...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JDBC + PreparedStatement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━━ 数据库 ━━</a:t>
            </a:r>
          </a:p>
          <a:p>
            <a:pPr>
              <a:spcAft>
                <a:spcPts val="259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MySQL 8.0 · library_db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04  前端项目结构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library-vue/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├── src/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api/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index.js          # 统一API封装 (7个模块)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└── request.js        # Axios实例 + 拦截器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assets/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└── main.css           # 全局样式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components/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└── Pagination.vue     # 分页公共组件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router/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└── index.js           # 路由配置 (22条)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stores/                 # Pinia状态管理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views/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HomeView.vue       # 首页仪表盘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book/              # 图书管理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reader/            # 读者管理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borrow/            # 借阅记录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category/          # 图书分类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fine/              # 逾期罚款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├── review/            # 图书评价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│   └── ranking/           # 热门排行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├── App.vue                # 根组件 (导航栏)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│   └── main.js                # 入口文件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├── package.json               # 依赖配置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├── vite.config.js             # Vite构建配置</a:t>
            </a:r>
          </a:p>
          <a:p>
            <a:pPr>
              <a:spcAft>
                <a:spcPts val="194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└── index.html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5303520"/>
            <a:ext cx="3200400" cy="118872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53949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C6E"/>
                </a:solidFill>
                <a:latin typeface="Microsoft YaHei"/>
              </a:defRPr>
            </a:pPr>
            <a:r>
              <a:t>📦 Vue 3 + Vite 8</a:t>
            </a:r>
            <a:br/>
            <a:r>
              <a:t>📄 22条路由 · 15+视图组件</a:t>
            </a:r>
            <a:br/>
            <a:r>
              <a:t>🔌 7个API模块 · Axios通信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05  前端功能模块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📋 路由配置 (router/index.js)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const routes = [</a:t>
            </a:r>
            <a:br/>
            <a:r>
              <a:t>  { path: '/',                → HomeView }</a:t>
            </a:r>
            <a:br/>
            <a:r>
              <a:t>  { path: '/book',            → BookList }</a:t>
            </a:r>
            <a:br/>
            <a:r>
              <a:t>  { path: '/book/add',        → BookForm }</a:t>
            </a:r>
            <a:br/>
            <a:r>
              <a:t>  { path: '/book/edit/:id',   → BookForm }</a:t>
            </a:r>
            <a:br/>
            <a:r>
              <a:t>  { path: '/reader',          → ReaderList }</a:t>
            </a:r>
            <a:br/>
            <a:r>
              <a:t>  { path: '/reader/add',      → ReaderForm }</a:t>
            </a:r>
            <a:br/>
            <a:r>
              <a:t>  { path: '/reader/edit/:id', → ReaderForm }</a:t>
            </a:r>
            <a:br/>
            <a:r>
              <a:t>  { path: '/borrow',          → BorrowList }</a:t>
            </a:r>
            <a:br/>
            <a:r>
              <a:t>  { path: '/borrow/add',      → BorrowForm }</a:t>
            </a:r>
            <a:br/>
            <a:r>
              <a:t>  { path: '/borrow/edit/:id', → BorrowForm }</a:t>
            </a:r>
            <a:br/>
            <a:r>
              <a:t>  // ... 共22条路由</a:t>
            </a:r>
            <a:br/>
            <a:r>
              <a:t>  { path: '/ranking',         → RankingList }</a:t>
            </a:r>
            <a:br/>
            <a: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🔌 API 统一封装 (api/index.js)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// 统一生成 CRUD API</a:t>
            </a:r>
            <a:br/>
            <a:r>
              <a:t>function createApi(path) {</a:t>
            </a:r>
            <a:br/>
            <a:r>
              <a:t>  return {</a:t>
            </a:r>
            <a:br/>
            <a:r>
              <a:t>    list:    (params) =&gt; request.get(path, {params}),</a:t>
            </a:r>
            <a:br/>
            <a:r>
              <a:t>    getById: (id)     =&gt; request.get(path + '/' + id),</a:t>
            </a:r>
            <a:br/>
            <a:r>
              <a:t>    add:     (data)   =&gt; request.post(path, data),</a:t>
            </a:r>
            <a:br/>
            <a:r>
              <a:t>    update:  (id,data)=&gt; request.put(path + '/' + id, data),</a:t>
            </a:r>
            <a:br/>
            <a:r>
              <a:t>    delete:  (id)     =&gt; request.delete(path + '/' + id)</a:t>
            </a:r>
            <a:br/>
            <a:r>
              <a:t>  }</a:t>
            </a:r>
            <a:br/>
            <a:r>
              <a:t>}</a:t>
            </a:r>
            <a:br/>
            <a:br/>
            <a:r>
              <a:t>// 7个模块一行注册</a:t>
            </a:r>
            <a:br/>
            <a:r>
              <a:t>export const bookApi     = createApi('/book')</a:t>
            </a:r>
            <a:br/>
            <a:r>
              <a:t>export const readerApi   = createApi('/reader')</a:t>
            </a:r>
            <a:br/>
            <a:r>
              <a:t>export const borrowApi   = createApi('/borrow')</a:t>
            </a:r>
            <a:br/>
            <a:r>
              <a:t>export const categoryApi = createApi('/category')</a:t>
            </a:r>
            <a:br/>
            <a:r>
              <a:t>export const fineApi     = createApi('/fine')</a:t>
            </a:r>
            <a:br/>
            <a:r>
              <a:t>export const reviewApi   = createApi('/review')</a:t>
            </a:r>
            <a:br/>
            <a:r>
              <a:t>export const rankingApi  = createApi('/ranking')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3291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54864" cy="10972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📱 响应式导航</a:t>
            </a:r>
            <a:br/>
            <a:r>
              <a:t>首页仪表盘导航卡片</a:t>
            </a:r>
            <a:br/>
            <a:r>
              <a:t>7大功能入口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5303520"/>
            <a:ext cx="3291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5303520"/>
            <a:ext cx="54864" cy="109728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🔄 分页+搜索</a:t>
            </a:r>
            <a:br/>
            <a:r>
              <a:t>公共Pagination组件</a:t>
            </a:r>
            <a:br/>
            <a:r>
              <a:t>支持搜索/模糊查询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5303520"/>
            <a:ext cx="3291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5303520"/>
            <a:ext cx="54864" cy="109728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🎯 统一拦截器</a:t>
            </a:r>
            <a:br/>
            <a:r>
              <a:t>Axios拦截器统一错误处理</a:t>
            </a:r>
            <a:br/>
            <a:r>
              <a:t>请求超时10秒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06  后端项目结构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📦 Maven 依赖 (pom.xml)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groupId: com.huade</a:t>
            </a:r>
            <a:br/>
            <a:r>
              <a:t>artifactId: library-management</a:t>
            </a:r>
            <a:br/>
            <a:r>
              <a:t>packaging: war</a:t>
            </a:r>
            <a:br/>
            <a:r>
              <a:t>JDK: 1.8</a:t>
            </a:r>
            <a:br/>
            <a:br/>
            <a:r>
              <a:t>核心依赖：</a:t>
            </a:r>
            <a:br/>
            <a:r>
              <a:t>  • mysql-connector-java 8.0.16</a:t>
            </a:r>
            <a:br/>
            <a:r>
              <a:t>  • javax.servlet-api 4.0.1</a:t>
            </a:r>
            <a:br/>
            <a:r>
              <a:t>  • gson 2.10.1</a:t>
            </a:r>
            <a:br/>
            <a:r>
              <a:t>  • jstl 1.2</a:t>
            </a:r>
            <a:br/>
            <a:r>
              <a:t>  • junit 4.13 (test)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📂 源码组织结构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src/main/java/com/huade/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├── entity/       (9个实体类)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Book.java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Reader.java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BorrowRecord.java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BookCategory.java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OverdueFine.java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BookReview.java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PopularRanking.java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├── PageResult.java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│   └── ResponseData.java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├── dao/          (7个接口 + 7个实现)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├── service/      (7个接口 + 7个实现)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├── servlets/     (7个Servlet控制器)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├── filter/       (CORS + Encoding)</a:t>
            </a:r>
          </a:p>
          <a:p>
            <a:pPr>
              <a:spcAft>
                <a:spcPts val="239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└── utils/        (DBUtils工具类)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🌐 Servlet RESTful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@WebServlet("/api/book", "/api/book/*")</a:t>
            </a:r>
            <a:br/>
            <a:br/>
            <a:r>
              <a:t>HTTP方法映射：</a:t>
            </a:r>
            <a:br/>
            <a:r>
              <a:t>  GET    → 列表查询 / 根据ID查询</a:t>
            </a:r>
            <a:br/>
            <a:r>
              <a:t>  POST   → 新增数据</a:t>
            </a:r>
            <a:br/>
            <a:r>
              <a:t>  PUT    → 更新数据</a:t>
            </a:r>
            <a:br/>
            <a:r>
              <a:t>  DELETE → 删除数据</a:t>
            </a:r>
            <a:br/>
            <a:r>
              <a:t>  OPTIONS→ CORS预检请求</a:t>
            </a:r>
            <a:br/>
            <a:br/>
            <a:r>
              <a:t>统一响应格式：JSON</a:t>
            </a:r>
            <a:br/>
            <a:r>
              <a:t>  列表: PageResult&lt;T&gt; (data/page/limit/total)</a:t>
            </a:r>
            <a:br/>
            <a:r>
              <a:t>  详情: T (实体对象)</a:t>
            </a:r>
            <a:br/>
            <a:r>
              <a:t>  操作: ResponseData (success/message)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07  后端分层架构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90FF"/>
                </a:solidFill>
                <a:latin typeface="Microsoft YaHei"/>
              </a:defRPr>
            </a:pPr>
            <a:r>
              <a:t>🌐 Servlet 控制层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接收HTTP请求、参数解析、JSON响应、CORS处理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73152" cy="1005840"/>
          </a:xfrm>
          <a:prstGeom prst="rect">
            <a:avLst/>
          </a:prstGeom>
          <a:solidFill>
            <a:srgbClr val="4FC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08D"/>
                </a:solidFill>
                <a:latin typeface="Microsoft YaHei"/>
              </a:defRPr>
            </a:pPr>
            <a:r>
              <a:t>⚙️ Service 业务层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业务逻辑编排、事务管理、DAO调用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29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8C16"/>
                </a:solidFill>
                <a:latin typeface="Microsoft YaHei"/>
              </a:defRPr>
            </a:pPr>
            <a:r>
              <a:t>🗄️ DAO 数据访问层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JDBC数据库操作、SQL拼接、结果集映射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90FF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73152" cy="100584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B2F96"/>
                </a:solidFill>
                <a:latin typeface="Microsoft YaHei"/>
              </a:defRPr>
            </a:pPr>
            <a:r>
              <a:t>📁 Entity 实体层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数据模型定义、PageResult/ResponseData通用封装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572000" cy="48463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📝 关键代码示例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// ---- DBUtils 数据库工具 ----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public class DBUtils {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Connection getConn() { /* MySQL连接 */ }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int executeSQL(sql, params) { /* 增删改 */ }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ResultSet executeQuery(sql, params) { /* 查询 */ }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// ---- BookServlet 控制层 ----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@WebServlet({"/api/book","/api/book/*"})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public class BookServlet extends HttpServlet {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doGet() → 分页查询/根据ID查询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doPost() → 新增图书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doPut() → 更新图书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doDelete() → 删除图书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// ---- CORS跨域处理 ----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@WebFilter("/*")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public class CorsFilter implements Filter {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// 设置Access-Control-Allow-Origin: *</a:t>
            </a:r>
          </a:p>
          <a:p>
            <a:pPr>
              <a:spcAft>
                <a:spcPts val="11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08  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表名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主要字段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图书表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book_title, author, isbn, category, stock_quantity, storage_location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6984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读者表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full_name, student_id, class_name, max_borrow_count, borrowed_count, contact_number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175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book_category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图书分类表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17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category_name, allowed_borrow_days,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59"/>
            <a:ext cx="106984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5759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borrow_record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6575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借阅记录表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5759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book_title, reader_name, borrow_date, due_date, actual_return_date,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0624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overdue_fine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逾期罚款表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97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reader_name, book_title, overdue_days, fine_amount, payment_status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book_review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图书评价表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9377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book_title, reviewer_name, rating, review_content, review_time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486399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778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popular_ranking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5778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热门排行表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57783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book_title, monthly_borrow_times, total_borrow_times, statistics_month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💡 数据库：MySQL 8.0  |  数据库名：library_db  |  种子数据：seed_data.sql (每表20条测试数据)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09  核心功能演示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图书管理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图书信息增删改查</a:t>
            </a:r>
            <a:br/>
            <a:r>
              <a:t>按书名/作者/ISBN搜索</a:t>
            </a:r>
            <a:br/>
            <a:r>
              <a:t>库存数量、存放位置管理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8016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49040" y="1463040"/>
            <a:ext cx="45720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读者管理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659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读者信息管理</a:t>
            </a:r>
            <a:br/>
            <a:r>
              <a:t>学号/班级/联系方式</a:t>
            </a:r>
            <a:br/>
            <a:r>
              <a:t>可借数量控制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借阅记录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借书/归还操作</a:t>
            </a:r>
            <a:br/>
            <a:r>
              <a:t>借出/已还/逾期状态</a:t>
            </a:r>
            <a:br/>
            <a:r>
              <a:t>应还日期自动计算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0" y="1463040"/>
            <a:ext cx="457200" cy="4572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图书分类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659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分类名称管理</a:t>
            </a:r>
            <a:br/>
            <a:r>
              <a:t>各类别可借天数配置</a:t>
            </a:r>
            <a:br/>
            <a:r>
              <a:t>分类描述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84048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0200" y="4023360"/>
            <a:ext cx="45720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逾期罚款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逾期天数自动计算</a:t>
            </a:r>
            <a:br/>
            <a:r>
              <a:t>罚款金额管理</a:t>
            </a:r>
            <a:br/>
            <a:r>
              <a:t>已缴纳/未缴纳状态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84048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4023360"/>
            <a:ext cx="45720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图书评价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读者评分(1-5)</a:t>
            </a:r>
            <a:br/>
            <a:r>
              <a:t>评价内容管理</a:t>
            </a:r>
            <a:br/>
            <a:r>
              <a:t>评价时间记录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84048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4023360"/>
            <a:ext cx="45720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热门排行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月借阅次数排行</a:t>
            </a:r>
            <a:br/>
            <a:r>
              <a:t>总借阅次数统计</a:t>
            </a:r>
            <a:br/>
            <a:r>
              <a:t>统计月份管理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所有模块统一CRUD风格  |  分页查询 + 搜索  |  统一JSON响应格式  |  CORS跨域支持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10  项目亮点与总结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🏗️ 前后端分离架构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Vue 3 前端 + Java Servlet 后端，通过 RESTful API 通信，职责清晰，易于维护和扩展。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⚡ 现代化前端技术栈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Vue 3 + Vite 8 + Pinia + Vue Router，利用 ES Modules 和 Composition API 构建高效前端应用。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39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🔌 统一API封装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7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通过 createApi() 工厂函数一行注册 CRUD 接口，减少重复代码，提高开发效率。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79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🗄️ 分层后端设计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Entity → DAO → Service → Servlet 四层架构，职责分离，代码可测试性强。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🔄 完整业务闭环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从图书入库 → 分类管理 → 读者注册 → 借阅归还 → 逾期罚款 → 评价排行，全流程覆盖。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66360"/>
            <a:ext cx="54864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📊 丰富的种子数据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seed_data.sql 包含7张表各20条测试数据，方便开发调试和演示。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📌 项目状态：开发完成  |  前端端口 3000  |  后端端口 8080  |  数据库 library_db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890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📚 图书借阅管理系统</a:t>
            </a:r>
          </a:p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前端项目：E:\vue\library-vue</a:t>
            </a:r>
          </a:p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后端项目：D:\javapocter\library-management</a:t>
            </a:r>
          </a:p>
          <a:p>
            <a:pPr>
              <a:spcAft>
                <a:spcPts val="1440"/>
              </a:spcAft>
              <a:defRPr sz="1800">
                <a:solidFill>
                  <a:srgbClr val="CCDDFF"/>
                </a:solidFill>
                <a:latin typeface="Microsoft YaHei"/>
              </a:defRPr>
            </a:pPr>
            <a:r>
              <a:t>数据库：MySQL 8.0 · library_db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