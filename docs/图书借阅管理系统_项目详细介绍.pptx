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📚 图书借阅管理系统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890FF"/>
                </a:solidFill>
                <a:latin typeface="Microsoft YaHei"/>
              </a:defRPr>
            </a:pPr>
            <a:r>
              <a:t>Library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60"/>
              </a:spcAft>
              <a:defRPr sz="1700" b="0">
                <a:solidFill>
                  <a:srgbClr val="CCDDFF"/>
                </a:solidFill>
                <a:latin typeface="Microsoft YaHei"/>
              </a:defRPr>
            </a:pPr>
            <a:r>
              <a:t>前端技术：Vue 3 + Vite 8 + Pinia + Vue Router + Axios</a:t>
            </a:r>
          </a:p>
          <a:p>
            <a:pPr>
              <a:spcAft>
                <a:spcPts val="1360"/>
              </a:spcAft>
              <a:defRPr sz="1700" b="0">
                <a:solidFill>
                  <a:srgbClr val="CCDDFF"/>
                </a:solidFill>
                <a:latin typeface="Microsoft YaHei"/>
              </a:defRPr>
            </a:pPr>
            <a:r>
              <a:t>后端技术：Java 8 + Servlet 4.0 + Maven + MySQL 8.0</a:t>
            </a:r>
          </a:p>
          <a:p>
            <a:pPr>
              <a:spcAft>
                <a:spcPts val="1360"/>
              </a:spcAft>
              <a:defRPr sz="1700" b="0">
                <a:solidFill>
                  <a:srgbClr val="CCDDFF"/>
                </a:solidFill>
                <a:latin typeface="Microsoft YaHei"/>
              </a:defRPr>
            </a:pPr>
            <a:r>
              <a:t>系统架构：前后端分离 · RESTful API · 全功能图书借阅管理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项目汇报 ·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C6E"/>
                </a:solidFill>
                <a:latin typeface="Microsoft YaHei"/>
              </a:defRPr>
            </a:pPr>
            <a:r>
              <a:t>📋 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01  项目概述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02  技术栈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03  系统架构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04  前端项目结构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05  前端 API 与路由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06  模块一：图书管理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07  模块二：读者管理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08  模块三：借阅记录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09  模块四：图书分类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10  模块五：逾期罚款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11  模块六：图书评价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12  模块七：热门排行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13  后端分层架构详解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14  工具层与过滤器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15  数据库设计</a:t>
            </a:r>
          </a:p>
          <a:p>
            <a:pPr>
              <a:spcAft>
                <a:spcPts val="126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16  项目亮点与总结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01  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530352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961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🎯 项目背景与目标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1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传统图书馆管理效率低、数据统计困难、借阅流程繁琐</a:t>
            </a:r>
          </a:p>
          <a:p>
            <a:pPr>
              <a:spcAft>
                <a:spcPts val="91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本项目开发一套现代化图书借阅管理系统</a:t>
            </a:r>
          </a:p>
          <a:p>
            <a:pPr>
              <a:spcAft>
                <a:spcPts val="91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覆盖图书、读者、借阅、罚款、评价、排行全流程</a:t>
            </a:r>
          </a:p>
          <a:p>
            <a:pPr>
              <a:spcAft>
                <a:spcPts val="91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采用前后端分离架构，提升可维护性和扩展性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868680"/>
            <a:ext cx="5303520" cy="4114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8961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📂 项目信息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前端项目：E:\vue\library-vue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后端项目：D:\javapocter\library-management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数据库：MySQL 8.0 · library_db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JDK 1.8 · Tomcat 9 · Maven 3.8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API: http://localhost:8080/library_management_war/api</a:t>
            </a:r>
          </a:p>
          <a:p>
            <a:pPr>
              <a:spcAft>
                <a:spcPts val="78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前端端口: http://localhost:3000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46320"/>
            <a:ext cx="260604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846320"/>
            <a:ext cx="2606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9377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890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业务模块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4846320"/>
            <a:ext cx="260604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4846320"/>
            <a:ext cx="2606040" cy="36576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9377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2C41A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前端路由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4846320"/>
            <a:ext cx="260604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4846320"/>
            <a:ext cx="2606040" cy="36576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19" y="49377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A8C16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39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Java实体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19" y="4846320"/>
            <a:ext cx="260604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19" y="4846320"/>
            <a:ext cx="2606040" cy="36576"/>
          </a:xfrm>
          <a:prstGeom prst="rect">
            <a:avLst/>
          </a:prstGeom>
          <a:solidFill>
            <a:srgbClr val="FF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79" y="49377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4D4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399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项目概述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02  技术栈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566160" cy="4754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3566160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333333"/>
                </a:solidFill>
                <a:latin typeface="Microsoft YaHei"/>
              </a:defRPr>
            </a:pPr>
            <a: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3C6E"/>
                </a:solidFill>
                <a:latin typeface="Microsoft YaHei"/>
              </a:defRPr>
            </a:pPr>
            <a:r>
              <a:t>前端技术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194560"/>
            <a:ext cx="1371600" cy="27432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Vue 3.5 (Composition API)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Vite 8.0 构建工具 (极速HMR)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Pinia 3.0 状态管理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Vue Router 5.0 (HTML5 History)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Axios HTTP 客户端 (拦截器)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ES Modules 模块化开发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97280"/>
            <a:ext cx="3566160" cy="4754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97280"/>
            <a:ext cx="3566160" cy="457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801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333333"/>
                </a:solidFill>
                <a:latin typeface="Microsoft YaHei"/>
              </a:defRPr>
            </a:pPr>
            <a: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3C6E"/>
                </a:solidFill>
                <a:latin typeface="Microsoft YaHei"/>
              </a:defRPr>
            </a:pPr>
            <a:r>
              <a:t>后端技术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194560"/>
            <a:ext cx="1371600" cy="27432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3774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Java 8 (JDK 1.8)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Servlet 4.0 API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Maven 3.8 项目管理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Gson 2.10 JSON 序列化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JDBC + MySQL Connector/J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JSTL 1.2 标签库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097280"/>
            <a:ext cx="3566160" cy="4754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097280"/>
            <a:ext cx="3566160" cy="457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801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333333"/>
                </a:solidFill>
                <a:latin typeface="Microsoft YaHei"/>
              </a:defRPr>
            </a:pPr>
            <a:r>
              <a:t>🗄️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3C6E"/>
                </a:solidFill>
                <a:latin typeface="Microsoft YaHei"/>
              </a:defRPr>
            </a:pPr>
            <a:r>
              <a:t>数据库与工具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2194560"/>
            <a:ext cx="1371600" cy="27432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3774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MySQL 8.0 数据库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IntelliJ IDEA (后端)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VS Code (前端)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Tomcat 9 应用服务器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Postman API 测试</a:t>
            </a:r>
          </a:p>
          <a:p>
            <a:pPr>
              <a:spcAft>
                <a:spcPts val="72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Git 版本控制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技术栈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03  系统架构（前后端分离）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45720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88136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33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890FF"/>
                </a:solidFill>
                <a:latin typeface="Microsoft YaHei"/>
              </a:defRPr>
            </a:pPr>
            <a:r>
              <a:t>🖥️  前端层 (Vue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Vue 组件 → 用户界面渲染</a:t>
            </a:r>
          </a:p>
          <a:p>
            <a:pPr>
              <a:spcAft>
                <a:spcPts val="47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Vue Router → SPA 路由管理 (22条)</a:t>
            </a:r>
          </a:p>
          <a:p>
            <a:pPr>
              <a:spcAft>
                <a:spcPts val="47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Axios HTTP → 统一 API 请求封装</a:t>
            </a:r>
          </a:p>
          <a:p>
            <a:pPr>
              <a:spcAft>
                <a:spcPts val="47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运行端口: localhost:3000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783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⬇  ⬆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45720" cy="10058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088136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99999"/>
                </a:solidFill>
                <a:latin typeface="Microsoft YaHei"/>
              </a:defRPr>
            </a:pPr>
            <a:r>
              <a:t>⬆️  RESTful API (JSON)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基础路径: /library_management_war/api</a:t>
            </a:r>
          </a:p>
          <a:p>
            <a:pPr>
              <a:spcAft>
                <a:spcPts val="47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GET / POST / PUT / DELETE /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063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⬇  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45720" cy="10058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1088136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93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2C41A"/>
                </a:solidFill>
                <a:latin typeface="Microsoft YaHei"/>
              </a:defRPr>
            </a:pPr>
            <a:r>
              <a:t>⚙️  后端层 (Java Servlet)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Servlet → 接收请求、返回 JSON 响应</a:t>
            </a:r>
          </a:p>
          <a:p>
            <a:pPr>
              <a:spcAft>
                <a:spcPts val="47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Service → 业务逻辑编排</a:t>
            </a:r>
          </a:p>
          <a:p>
            <a:pPr>
              <a:spcAft>
                <a:spcPts val="47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DAO → JDBC 操作 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343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⬇  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19"/>
            <a:ext cx="45720" cy="100584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846319"/>
            <a:ext cx="10881360" cy="10058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7375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8C16"/>
                </a:solidFill>
                <a:latin typeface="Microsoft YaHei"/>
              </a:defRPr>
            </a:pPr>
            <a:r>
              <a:t>🗄️  数据库层 (MySQL 8.0)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5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数据库: library_db</a:t>
            </a:r>
          </a:p>
          <a:p>
            <a:pPr>
              <a:spcAft>
                <a:spcPts val="47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7 张业务表 + 140条种子数据</a:t>
            </a:r>
          </a:p>
          <a:p>
            <a:pPr>
              <a:spcAft>
                <a:spcPts val="47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JDBC: jdbc:mysql://localhost:3306/library_db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系统架构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04  前端项目结构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548640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📂 目录结构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0" cy="18288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library-vue/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├── src/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├── api/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│   ├── index.js      # 统一API封装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│   └── request.js    # Axios实例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├── assets/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│   └── main.css      # 全局样式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├── components/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│   └── Pagination.vue # 分页组件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├── router/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│   └── index.js      # 22条路由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├── stores/            # Pinia状态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716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├── views/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│   ├── HomeView.vue  # 首页导航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│   ├── book/         # 📖 图书管理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│   ├── reader/       # 👤 读者管理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│   ├── borrow/       # 🔄 借阅记录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│   ├── category/     # 📂 图书分类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│   ├── fine/         # 💰 逾期罚款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│   ├── review/       # ⭐ 图书评价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│   └── ranking/      # 🏆 热门排行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├── App.vue           # 根组件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│   └── main.js           # 入口文件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├── package.json          # 依赖管理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├── vite.config.js        # 构建配置</a:t>
            </a:r>
          </a:p>
          <a:p>
            <a:pPr>
              <a:spcAft>
                <a:spcPts val="149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└── index.html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868680"/>
            <a:ext cx="5303520" cy="2103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914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📦 核心依赖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"dependencies": {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"vue": "^3.5.38",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"vue-router": "^5.1.0",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"pinia": "^3.0.4",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"axios": "^1.18.1"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"devDependencies": {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"vite": "^8.0.16",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"@vitejs/plugin-vue": "^6.0.7"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200400"/>
            <a:ext cx="5303520" cy="274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6E"/>
                </a:solidFill>
                <a:latin typeface="Microsoft YaHei"/>
              </a:defRPr>
            </a:pPr>
            <a:r>
              <a:t>⚙️ 构建与入口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118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vite.config.js: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plugins: [vue(), vueDevTools()]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resolve.alias: { "@": "./src" }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server.port: 3000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main.js 入口: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createApp(App).use(createPinia()).use(router).mount("#app")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App.vue 根组件: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&lt;router-link&gt;导航栏 (7个入口)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&lt;router-view /&gt; 内容渲染区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前端项目结构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05  前端 API 统一封装与路由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5486400" cy="502920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486400" cy="36576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96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🔌 API 统一封装 (api/index.js)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// 工厂函数：创建5个标准CRUD方法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function createApi(path) {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return {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  list(params)     { return request.get(path, { params }) },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  getById(id)      { return request.get(path + "/" + id) },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  add(data)        { return request.post(path, data) },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  update(id, data) { return request.put(path + "/" + id, data) },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  delete(id)       { return request.delete(path + "/" + id) }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// 一行注册7个模块的API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export const bookApi     = createApi("/book")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export const readerApi   = createApi("/reader")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export const borrowApi   = createApi("/borrow")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export const categoryApi = createApi("/category")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export const fineApi     = createApi("/fine")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export const reviewApi   = createApi("/review")</a:t>
            </a:r>
          </a:p>
          <a:p>
            <a:pPr>
              <a:spcAft>
                <a:spcPts val="50"/>
              </a:spcAft>
              <a:defRPr sz="1000" b="0">
                <a:solidFill>
                  <a:srgbClr val="333333"/>
                </a:solidFill>
                <a:latin typeface="Consolas"/>
              </a:defRPr>
            </a:pPr>
            <a:r>
              <a:t>export const rankingApi  = createApi("/ranking")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868680"/>
            <a:ext cx="5303520" cy="182880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868680"/>
            <a:ext cx="530352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896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🌐 Axios 实例 (api/request.js)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const request = axios.create({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baseURL: "http://localhost:8080/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library_management_war/api",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timeout: 10000,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headers: { "Content-Type": "application/json" }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// 响应拦截器：统一错误处理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request.interceptors.response.use(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response =&gt; response,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error =&gt; { return Promise.reject(error) }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26080"/>
            <a:ext cx="5303520" cy="301752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926080"/>
            <a:ext cx="5303520" cy="32004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953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🗺️ 路由配置 (router/index.js)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3756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const routes = [  // 共22条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{ path: "/",            → HomeView }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{ path: "/book",        → BookList }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{ path: "/book/add",    → BookForm }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{ path: "/book/edit/:id"→ BookForm }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{ path: "/reader",      → ReaderList }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{ path: "/reader/add",  → ReaderForm }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{ path: "/reader/edit/:id" → ReaderForm }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{ path: "/borrow",      → BorrowList }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// ... 每个模块3条：列表/新增/编辑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{ path: "/ranking",     → RankingList }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]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路由模式: createWebHistory()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每个路由使用 () =&gt; import() 懒加载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前端 API 封装与路由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06  📖 图书管理 — 前端与实体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📋 Book 实体字段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id (INT,PK)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book_title (VARCHAR) 书名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author (VARCHAR) 作者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isbn (VARCHAR) 编号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category (VARCHAR) 分类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stock_quantity (INT) 库存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storage_location (VARCHAR) 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347472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🔍 搜索: 书名 / 作者 / ISBN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868680"/>
            <a:ext cx="36576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868680"/>
            <a:ext cx="365760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8869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🖥️ 列表页 (List.vue) 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fetchList()      分页查询列表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→ bookApi.list({page, limit, keyword})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handleSearch()   搜索（page重置为1）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handlePageChange(p)  分页切换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handleDelete(id) 确认删除 → bookApi.delete(id)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868680"/>
            <a:ext cx="347472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📝 表单页 (Form.vue) 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fetchData(id)    编辑回填 → bookApi.getById(id)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handleSubmit()   新增/编辑 → 保存后跳转列表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06240"/>
            <a:ext cx="740664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251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C6E"/>
                </a:solidFill>
                <a:latin typeface="Microsoft YaHei"/>
              </a:defRPr>
            </a:pPr>
            <a:r>
              <a:t>🔄 API链路: Vue组件 → BookApi.js → Axios → Servlet → Service → DAO → 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3474720" cy="548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📁 BookServlet.java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06：图书管理  |  第1页/共2页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06  📖 图书管理 — 后端与SQL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⚙️ 后端完整方法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BookServlet.java  (/api/book)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doGet()    → 分页列表 / 根据ID查询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doPost()   → 新增 (JSON→Gson→实体)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doPut()    → 更新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doDelete() → 删除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doOptions()→ CORS预检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BookServiceImpl.java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findAll() / findById(int)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add(T) / modify(T) / remove(int)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search(keyword, page, limit) → PageResult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BookDaoImpl.java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7个方法 + mapXxx(ResultSet)映射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search(): 动态SQL拼接+模糊搜索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count() : 分页总数统计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868680"/>
            <a:ext cx="7315200" cy="210312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868680"/>
            <a:ext cx="7315200" cy="2743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88696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INSERT / UPDATE / DELETE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【INSERT】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insert into book (book_title,author,isbn,category,stock_quantity,storage_location) values(?,?,?,?,?,?)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【UPDATE】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update book set book_title=?,author=?,isbn=?,category=?,stock_quantity=?,storage_location=? where id=?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【DELETE】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delete from book where id=?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200400"/>
            <a:ext cx="7315200" cy="274320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3200400"/>
            <a:ext cx="7315200" cy="2743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21868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SELECT 分页模糊查询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566160"/>
            <a:ext cx="7040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select * from book where 1=1 and (book_title like ? or author </a:t>
            </a:r>
          </a:p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like ? or isbn like ?) order by id desc limit ? offset ?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486400"/>
            <a:ext cx="7315200" cy="45720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551383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💡 关键词模糊搜索: keyword 匹配 书名 / 作者 / ISBN，支持部分匹配，搜索时 page 重置为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06：图书管理  |  第2页/共2页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07  👤 读者管理 — 前端与实体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📋 Reader 实体字段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id (INT,PK)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full_name (VARCHAR) 姓名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student_id (VARCHAR) 学号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class_name (VARCHAR) 班级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max_borrow_count (INT) 最大可借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borrowed_count (INT) 已借数量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contact_number (VARCHAR) 电话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347472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🔍 搜索: 姓名 / 学号 / 班级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868680"/>
            <a:ext cx="36576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868680"/>
            <a:ext cx="365760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8869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🖥️ 列表页 (List.vue) 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fetchList()      分页查询列表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→ readerApi.list({page, limit, keyword})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handleSearch()   搜索（姓名/学号/班级）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handlePageChange(p)  分页切换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handleDelete(id) 确认删除 → readerApi.delete(id)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868680"/>
            <a:ext cx="347472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📝 表单页 (Form.vue) 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fetchData(id)    编辑回填 → readerApi.getById(id)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handleSubmit()   新增/编辑 → 保存后跳转列表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06240"/>
            <a:ext cx="740664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251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C6E"/>
                </a:solidFill>
                <a:latin typeface="Microsoft YaHei"/>
              </a:defRPr>
            </a:pPr>
            <a:r>
              <a:t>🔄 API链路: Vue组件 → ReaderApi.js → Axios → Servlet → Service → DAO → 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3474720" cy="548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📁 ReaderServlet.java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07：读者管理  |  第1页/共2页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07  👤 读者管理 — 后端与SQL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⚙️ 后端完整方法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ReaderServlet.java  (/api/reader)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doGet()    → 分页列表 / 根据ID查询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doPost()   → 新增 (JSON→Gson→实体)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doPut()    → 更新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doDelete() → 删除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doOptions()→ CORS预检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ReaderServiceImpl.java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findAll() / findById(int)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add(T) / modify(T) / remove(int)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search(keyword, page, limit) → PageResult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ReaderDaoImpl.java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7个方法 + mapXxx(ResultSet)映射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search(): 动态SQL拼接+模糊搜索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count() : 分页总数统计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868680"/>
            <a:ext cx="7315200" cy="210312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868680"/>
            <a:ext cx="7315200" cy="2743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88696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INSERT / UPDATE / DELETE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【INSERT】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insert into reader (full_name,student_id,class_name,max_borrow_count,borrowed_count,contact_number) values(?,?,?,?,?,?)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【UPDATE】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update reader set full_name=?,student_id=?,class_name=?,max_borrow_count=?,borrowed_count=?,contact_number=? where id=?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【DELETE】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delete from reader where id=?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200400"/>
            <a:ext cx="7315200" cy="274320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3200400"/>
            <a:ext cx="7315200" cy="2743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21868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SELECT 分页模糊查询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566160"/>
            <a:ext cx="7040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select * from reader where 1=1 and (full_name like ? or </a:t>
            </a:r>
          </a:p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student_id like ? or class_name like ?) order by id desc limit ? </a:t>
            </a:r>
          </a:p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offset ?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486400"/>
            <a:ext cx="7315200" cy="45720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551383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💡 关键词模糊搜索: keyword 匹配 姓名 / 学号 / 班级，支持部分匹配，搜索时 page 重置为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07：读者管理  |  第2页/共2页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08  🔄 借阅记录 — 前端与实体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📋 BorrowRecord 实体字段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id (INT,PK)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book_title (VARCHAR) 书名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reader_name (VARCHAR) 读者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borrow_date (VARCHAR) 借阅日期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due_date (VARCHAR) 应还日期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actual_return_date (VARCHAR) 实际归还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status (VARCHAR) 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347472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🔍 搜索: 书名 / 读者姓名 / 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868680"/>
            <a:ext cx="36576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868680"/>
            <a:ext cx="365760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8869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🖥️ 列表页 (List.vue) 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fetchList()      分页查询列表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→ borrowApi.list({page, limit, keyword})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handleSearch()   搜索（书名/读者/状态）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handlePageChange(p)  分页切换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handleDelete(id) 确认删除 → borrowApi.delete(id)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868680"/>
            <a:ext cx="347472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📝 表单页 (Form.vue) 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fetchData(id)    编辑回填 → borrowApi.getById(id)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handleSubmit()   新增/编辑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status: "借出" / "已还" / "逾期"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06240"/>
            <a:ext cx="740664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251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C6E"/>
                </a:solidFill>
                <a:latin typeface="Microsoft YaHei"/>
              </a:defRPr>
            </a:pPr>
            <a:r>
              <a:t>🔄 API链路: Vue组件 → BorrowRecordApi.js → Axios → Servlet → Service → DAO → 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3474720" cy="548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📁 BorrowRecordServlet.java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08：借阅记录  |  第1页/共2页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08  🔄 借阅记录 — 后端与SQL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⚙️ 后端完整方法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BorrowRecordServlet.java  (/api/borrowrecord)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doGet()    → 分页列表 / 根据ID查询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doPost()   → 新增 (JSON→Gson→实体)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doPut()    → 更新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doDelete() → 删除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doOptions()→ CORS预检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BorrowRecordServiceImpl.java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findAll() / findById(int)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add(T) / modify(T) / remove(int)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search(keyword, page, limit) → PageResult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BorrowRecordDaoImpl.java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7个方法 + mapXxx(ResultSet)映射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search(): 动态SQL拼接+模糊搜索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count() : 分页总数统计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868680"/>
            <a:ext cx="7315200" cy="210312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868680"/>
            <a:ext cx="7315200" cy="2743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88696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INSERT / UPDATE / DELETE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【INSERT】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insert into borrow_record (book_title,reader_name,borrow_date,due_date,actual_return_date,status) values(?,?,?,?,?,?)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【UPDATE】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update borrow_record set book_title=?,reader_name=?,borrow_date=?,due_date=?,actual_return_date=?,status=? where id=?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【DELETE】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delete from borrow_record where id=?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200400"/>
            <a:ext cx="7315200" cy="274320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3200400"/>
            <a:ext cx="7315200" cy="2743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21868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SELECT 分页模糊查询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566160"/>
            <a:ext cx="7040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select * from borrow_record where 1=1 and (book_title like ? or </a:t>
            </a:r>
          </a:p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reader_name like ? or status like ?) order by id desc limit ? </a:t>
            </a:r>
          </a:p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offset ?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486400"/>
            <a:ext cx="7315200" cy="45720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551383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💡 关键词模糊搜索: keyword 匹配 书名 / 读者姓名 / 状态，支持部分匹配，搜索时 page 重置为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08：借阅记录  |  第2页/共2页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09  📂 图书分类 — 前端与实体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📋 BookCategory 实体字段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id (INT,PK)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category_name (VARCHAR) 分类名称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allowed_borrow_days (INT) 可借天数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description (VARCHAR) 描述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347472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🔍 搜索: 分类名称 / 描述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868680"/>
            <a:ext cx="36576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868680"/>
            <a:ext cx="365760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8869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🖥️ 列表页 (List.vue) 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fetchList()      分页查询列表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→ categoryApi.list({page, limit, keyword})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handleSearch()   搜索（分类名称）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handlePageChange(p)  分页切换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handleDelete(id) 确认删除 → categoryApi.delete(id)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868680"/>
            <a:ext cx="347472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📝 表单页 (Form.vue) 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fetchData(id)    编辑回填 → categoryApi.getById(id)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handleSubmit()   新增/编辑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默认 allowedBorrowDays = 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06240"/>
            <a:ext cx="740664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251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C6E"/>
                </a:solidFill>
                <a:latin typeface="Microsoft YaHei"/>
              </a:defRPr>
            </a:pPr>
            <a:r>
              <a:t>🔄 API链路: Vue组件 → BookCategoryApi.js → Axios → Servlet → Service → DAO → 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3474720" cy="548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📁 BookCategoryServlet.java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09：图书分类  |  第1页/共2页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09  📂 图书分类 — 后端与SQL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⚙️ 后端完整方法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BookCategoryServlet.java  (/api/bookcategory)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doGet()    → 分页列表 / 根据ID查询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doPost()   → 新增 (JSON→Gson→实体)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doPut()    → 更新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doDelete() → 删除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doOptions()→ CORS预检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BookCategoryServiceImpl.java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findAll() / findById(int)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add(T) / modify(T) / remove(int)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search(keyword, page, limit) → PageResult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BookCategoryDaoImpl.java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7个方法 + mapXxx(ResultSet)映射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search(): 动态SQL拼接+模糊搜索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count() : 分页总数统计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868680"/>
            <a:ext cx="7315200" cy="210312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868680"/>
            <a:ext cx="7315200" cy="2743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88696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INSERT / UPDATE / DELETE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【INSERT】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insert into book_category (category_name,allowed_borrow_days,description) values(?,?,?)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【UPDATE】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update book_category set category_name=?,allowed_borrow_days=?,description=? where id=?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【DELETE】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delete from book_category where id=?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200400"/>
            <a:ext cx="7315200" cy="274320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3200400"/>
            <a:ext cx="7315200" cy="2743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21868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SELECT 分页模糊查询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566160"/>
            <a:ext cx="7040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select * from book_category where 1=1 and (category_name like ? </a:t>
            </a:r>
          </a:p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or description like ?) order by id desc limit ? offset ?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486400"/>
            <a:ext cx="7315200" cy="45720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551383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💡 关键词模糊搜索: keyword 匹配 分类名称 / 描述，支持部分匹配，搜索时 page 重置为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09：图书分类  |  第2页/共2页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10  💰 逾期罚款 — 前端与实体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📋 OverdueFine 实体字段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id (INT,PK)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reader_name (VARCHAR) 读者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book_title (VARCHAR) 书名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overdue_days (INT) 逾期天数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fine_amount (DECIMAL) 金额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payment_status (VARCHAR) 状态(未缴/已缴)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347472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🔍 搜索: 读者姓名 / 书名 / 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868680"/>
            <a:ext cx="36576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868680"/>
            <a:ext cx="365760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8869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🖥️ 列表页 (List.vue) 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fetchList()      分页查询列表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→ fineApi.list({page, limit, keyword})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handleSearch()   搜索（读者/书名/状态）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handlePageChange(p)  分页切换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handleDelete(id) 确认删除 → fineApi.delete(id)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868680"/>
            <a:ext cx="347472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📝 表单页 (Form.vue) 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fetchData(id)    编辑回填 → fineApi.getById(id)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handleSubmit()   新增/编辑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paymentStatus: "未缴" / "已缴"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06240"/>
            <a:ext cx="740664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251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C6E"/>
                </a:solidFill>
                <a:latin typeface="Microsoft YaHei"/>
              </a:defRPr>
            </a:pPr>
            <a:r>
              <a:t>🔄 API链路: Vue组件 → OverdueFineApi.js → Axios → Servlet → Service → DAO → 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3474720" cy="548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📁 OverdueFineServlet.java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10：逾期罚款  |  第1页/共2页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10  💰 逾期罚款 — 后端与SQL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⚙️ 后端完整方法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OverdueFineServlet.java  (/api/overduefine)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doGet()    → 分页列表 / 根据ID查询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doPost()   → 新增 (JSON→Gson→实体)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doPut()    → 更新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doDelete() → 删除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doOptions()→ CORS预检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OverdueFineServiceImpl.java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findAll() / findById(int)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add(T) / modify(T) / remove(int)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search(keyword, page, limit) → PageResult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OverdueFineDaoImpl.java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7个方法 + mapXxx(ResultSet)映射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search(): 动态SQL拼接+模糊搜索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count() : 分页总数统计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868680"/>
            <a:ext cx="7315200" cy="210312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868680"/>
            <a:ext cx="7315200" cy="2743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88696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INSERT / UPDATE / DELETE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【INSERT】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insert into overdue_fine (reader_name,book_title,overdue_days,fine_amount,payment_status) values(?,?,?,?,?)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【UPDATE】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update overdue_fine set reader_name=?,book_title=?,overdue_days=?,fine_amount=?,payment_status=? where id=?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【DELETE】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delete from overdue_fine where id=?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200400"/>
            <a:ext cx="7315200" cy="274320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3200400"/>
            <a:ext cx="7315200" cy="2743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21868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SELECT 分页模糊查询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566160"/>
            <a:ext cx="7040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select * from overdue_fine where 1=1 and (reader_name like ? or </a:t>
            </a:r>
          </a:p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book_title like ? or payment_status like ?) order by id desc </a:t>
            </a:r>
          </a:p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limit ? offset ?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486400"/>
            <a:ext cx="7315200" cy="45720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551383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💡 关键词模糊搜索: keyword 匹配 读者姓名 / 书名 / 状态，支持部分匹配，搜索时 page 重置为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10：逾期罚款  |  第2页/共2页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11  ⭐ 图书评价 — 前端与实体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📋 BookReview 实体字段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id (INT,PK)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book_title (VARCHAR) 书名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reviewer_name (VARCHAR) 评价人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rating (INT) 评分(1-5)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review_content (TEXT) 内容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review_time (VARCHAR) 时间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347472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🔍 搜索: 书名 / 评价人 / 评价内容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868680"/>
            <a:ext cx="36576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868680"/>
            <a:ext cx="365760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8869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🖥️ 列表页 (List.vue) 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fetchList()      分页查询列表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→ reviewApi.list({page, limit, keyword})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handleSearch()   搜索（书名/评价人）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handlePageChange(p)  分页切换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handleDelete(id) 确认删除 → reviewApi.delete(id)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868680"/>
            <a:ext cx="347472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📝 表单页 (Form.vue) 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fetchData(id)    编辑回填 → reviewApi.getById(id)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handleSubmit()   新增/编辑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rating: 1-5, content: textarea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06240"/>
            <a:ext cx="740664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251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C6E"/>
                </a:solidFill>
                <a:latin typeface="Microsoft YaHei"/>
              </a:defRPr>
            </a:pPr>
            <a:r>
              <a:t>🔄 API链路: Vue组件 → BookReviewApi.js → Axios → Servlet → Service → DAO → 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3474720" cy="548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📁 BookReviewServlet.java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11：图书评价  |  第1页/共2页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11  ⭐ 图书评价 — 后端与SQL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⚙️ 后端完整方法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BookReviewServlet.java  (/api/bookreview)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doGet()    → 分页列表 / 根据ID查询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doPost()   → 新增 (JSON→Gson→实体)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doPut()    → 更新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doDelete() → 删除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doOptions()→ CORS预检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BookReviewServiceImpl.java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findAll() / findById(int)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add(T) / modify(T) / remove(int)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search(keyword, page, limit) → PageResult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BookReviewDaoImpl.java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7个方法 + mapXxx(ResultSet)映射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search(): 动态SQL拼接+模糊搜索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count() : 分页总数统计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868680"/>
            <a:ext cx="7315200" cy="210312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868680"/>
            <a:ext cx="7315200" cy="2743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88696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INSERT / UPDATE / DELETE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【INSERT】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insert into book_review (book_title,reviewer_name,rating,review_content,review_time) values(?,?,?,?,?)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【UPDATE】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update book_review set book_title=?,reviewer_name=?,rating=?,review_content=?,review_time=? where id=?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【DELETE】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delete from book_review where id=?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200400"/>
            <a:ext cx="7315200" cy="274320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3200400"/>
            <a:ext cx="7315200" cy="2743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21868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SELECT 分页模糊查询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566160"/>
            <a:ext cx="7040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select * from book_review where 1=1 and (book_title like ? or </a:t>
            </a:r>
          </a:p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reviewer_name like ? or review_content like ?) order by id desc </a:t>
            </a:r>
          </a:p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limit ? offset ?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486400"/>
            <a:ext cx="7315200" cy="45720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551383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💡 关键词模糊搜索: keyword 匹配 书名 / 评价人 / 评价内容，支持部分匹配，搜索时 page 重置为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11：图书评价  |  第2页/共2页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12  🏆 热门排行 — 前端与实体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📋 PopularRanking 实体字段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id (INT,PK)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book_title (VARCHAR) 书名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monthly_borrow_times (INT) 月借阅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total_borrow_times (INT) 总借阅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• statistics_month (VARCHAR) 月份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347472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🔍 搜索: 书名 / 统计月份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868680"/>
            <a:ext cx="36576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868680"/>
            <a:ext cx="365760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8869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🖥️ 列表页 (List.vue) 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fetchList()      分页查询列表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→ rankingApi.list({page, limit, keyword})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handleSearch()   搜索（书名/统计月份）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handlePageChange(p)  分页切换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handleDelete(id) 确认删除 → rankingApi.delete(id)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868680"/>
            <a:ext cx="34747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868680"/>
            <a:ext cx="347472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📝 表单页 (Form.vue) 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2801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fetchData(id)    编辑回填 → rankingApi.getById(id)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handleSubmit()   新增/编辑</a:t>
            </a:r>
          </a:p>
          <a:p>
            <a:pPr>
              <a:spcAft>
                <a:spcPts val="3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statisticsMonth 格式: 2025-06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06240"/>
            <a:ext cx="7406640" cy="54864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4251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C6E"/>
                </a:solidFill>
                <a:latin typeface="Microsoft YaHei"/>
              </a:defRPr>
            </a:pPr>
            <a:r>
              <a:t>🔄 API链路: Vue组件 → PopularRankingApi.js → Axios → Servlet → Service → DAO → 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3474720" cy="548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📁 PopularRankingServlet.java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12：热门排行  |  第1页/共2页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12  🏆 热门排行 — 后端与SQL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34747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3474720" cy="3200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869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⚙️ 后端完整方法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PopularRankingServlet.java  (/api/popularranking)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doGet()    → 分页列表 / 根据ID查询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doPost()   → 新增 (JSON→Gson→实体)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doPut()    → 更新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doDelete() → 删除 (路径含ID)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doOptions()→ CORS预检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PopularRankingServiceImpl.java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findAll() / findById(int)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add(T) / modify(T) / remove(int)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search(keyword, page, limit) → PageResult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PopularRankingDaoImpl.java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7个方法 + mapXxx(ResultSet)映射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search(): 动态SQL拼接+模糊搜索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count() : 分页总数统计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868680"/>
            <a:ext cx="7315200" cy="210312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868680"/>
            <a:ext cx="7315200" cy="2743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88696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INSERT / UPDATE / DELETE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3444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【INSERT】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insert into popular_ranking (book_title,monthly_borrow_times,total_borrow_times,statistics_month) values(?,?,?,?)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【UPDATE】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update popular_ranking set book_title=?,monthly_borrow_times=?,total_borrow_times=?,statistics_month=? where id=?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【DELETE】</a:t>
            </a:r>
          </a:p>
          <a:p>
            <a:pPr>
              <a:spcAft>
                <a:spcPts val="9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delete from popular_ranking where id=?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200400"/>
            <a:ext cx="7315200" cy="274320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3200400"/>
            <a:ext cx="7315200" cy="2743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21868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🗄️ SELECT 分页模糊查询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566160"/>
            <a:ext cx="7040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select * from popular_ranking where 1=1 and (book_title like ? or </a:t>
            </a:r>
          </a:p>
          <a:p>
            <a:pPr>
              <a:spcAft>
                <a:spcPts val="179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statistics_month like ?) order by id desc limit ? offset ?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486400"/>
            <a:ext cx="7315200" cy="45720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551383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90FF"/>
                </a:solidFill>
                <a:latin typeface="Microsoft YaHei"/>
              </a:defRPr>
            </a:pPr>
            <a:r>
              <a:t>💡 关键词模糊搜索: keyword 匹配 书名 / 统计月份，支持部分匹配，搜索时 page 重置为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模块 12：热门排行  |  第2页/共2页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13  后端分层架构详解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45720" cy="114300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822960"/>
            <a:ext cx="10881360" cy="1143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41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90FF"/>
                </a:solidFill>
                <a:latin typeface="Microsoft YaHei"/>
              </a:defRPr>
            </a:pPr>
            <a:r>
              <a:t>🌐 Servlet 控制层 (7个)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155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doGet() → 列表/详情  |  doPost() → 新增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doPut() → 更新  |  doDelete() → 删除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doOptions() → CORS预检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handleCors() → 设置跨域头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45720" cy="114300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0881360" cy="1143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2C41A"/>
                </a:solidFill>
                <a:latin typeface="Microsoft YaHei"/>
              </a:defRPr>
            </a:pPr>
            <a:r>
              <a:t>⚙️  Service 业务逻辑层 (7接口+7实现)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findAll() / findById(int) → 查询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add(T) / modify(T) → 新增/修改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remove(int) → 删除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search(kwd, page, limit) → 分页模糊查询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→ 调用DAO，封装PageResult&lt;T&gt;返回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79"/>
            <a:ext cx="45720" cy="114300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383279"/>
            <a:ext cx="10881360" cy="1143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01567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8C16"/>
                </a:solidFill>
                <a:latin typeface="Microsoft YaHei"/>
              </a:defRPr>
            </a:pPr>
            <a:r>
              <a:t>🗄️  DAO 数据访问层 (7接口+7实现)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75887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findAll() / findById(int) → 查询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insert(T) / update(T) → 新增/修改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delete(int) → 删除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search(kwd,page,limit) → 动态SQL+分页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count(kwd) → 总数统计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mapXxx(ResultSet) → JDBC结果集→实体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45720" cy="1143000"/>
          </a:xfrm>
          <a:prstGeom prst="rect">
            <a:avLst/>
          </a:prstGeom>
          <a:solidFill>
            <a:srgbClr val="EB2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10881360" cy="1143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817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B2F96"/>
                </a:solidFill>
                <a:latin typeface="Microsoft YaHei"/>
              </a:defRPr>
            </a:pPr>
            <a:r>
              <a:t>📁  Entity 实体层 (9个类)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5604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Book / Reader / BorrowRecord / BookCategory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OverdueFine / BookReview / PopularRanking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PageResult&lt;T&gt; → {data,page,limit,total,totalPages}</a:t>
            </a:r>
          </a:p>
          <a:p>
            <a:pPr>
              <a:spcAft>
                <a:spcPts val="134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ResponseData → {success, message}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后端分层架构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14  工具层与过滤器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53035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03520" cy="36576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96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🗄️  DBUtils 数据库工具类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// 数据库连接配置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DRIVER = "com.mysql.cj.jdbc.Driver"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URL = "jdbc:mysql://localhost:3306/library_db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   ?useUnicode=true&amp;characterEncoding=utf-8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   &amp;serverTimezone=Asia/Shanghai"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USER = "root"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public class DBUtils {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// 获取数据库连接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Connection getConn()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// 增删改: 返回受影响行数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int executeSQL(sql, String[] params)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// 查询: 返回ResultSet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ResultSet executeQuery(sql, params)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// 关闭资源 (rs→pstmt→conn)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void closeDB()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// 静态块加载驱动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static { Class.forName(DRIVER) }</a:t>
            </a:r>
          </a:p>
          <a:p>
            <a:pPr>
              <a:spcAft>
                <a:spcPts val="45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868680"/>
            <a:ext cx="548640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868680"/>
            <a:ext cx="5486400" cy="3200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896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🔒  CorsFilter 跨域过滤器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@WebFilter("/*")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public class CorsFilter implements Filter {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  doFilter() {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    resp.setHeader("Access-Control-Allow-Origin", "*")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    resp.setHeader("Access-Control-Allow-Methods",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      "GET, POST, PUT, DELETE, OPTIONS")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    resp.setHeader("Access-Control-Allow-Headers",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      "Content-Type, Authorization")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    resp.setHeader("Access-Control-Max-Age", "3600")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    if ("OPTIONS".equals(req.getMethod())) {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      resp.setStatus(200); return;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    chain.doFilter(req, resp);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800" b="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657600"/>
            <a:ext cx="54864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3657600"/>
            <a:ext cx="5486400" cy="2743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675887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📝  EncodingFilter 编码过滤器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0233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@WebFilter("/*")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public class EncodingFilter implements Filter {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doFilter() {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req.setCharacterEncoding("UTF-8")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resp.setCharacterEncoding("UTF-8")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  chain.doFilter(req, resp);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900" b="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303520"/>
            <a:ext cx="5486400" cy="50292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533095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C6E"/>
                </a:solidFill>
                <a:latin typeface="Microsoft YaHei"/>
              </a:defRPr>
            </a:pPr>
            <a:r>
              <a:t>📦 统一响应: PageResult&lt;T&gt; = {data,page,limit,total,totalPages} | ResponseData = {success,message}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工具层与过滤器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15  数据库设计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8696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表名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8869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8869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8869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主要字段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325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图书表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325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325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book_title, author, isbn, category, stock_quantity, storage_location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56232"/>
            <a:ext cx="110642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476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reader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947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读者表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476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9476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full_name, student_id, class_name, max_borrow_count, borrowed_count, contact_number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78024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694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borrow_record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569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借阅记录表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5694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56946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book_title, reader_name, borrow_date, due_date, actual_return_date,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99816"/>
            <a:ext cx="110642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912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book_category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1912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图书分类表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19125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19125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category_name, allowed_borrow_days, description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21608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8130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overdue_fine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3813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逾期罚款表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81304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813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reader_name, book_title, overdue_days, fine_amount, payment_status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43400"/>
            <a:ext cx="110642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book_review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图书评价表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434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4434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book_title, reviewer_name, rating, review_content, review_time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965192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056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90FF"/>
                </a:solidFill>
                <a:latin typeface="Microsoft YaHei"/>
              </a:defRPr>
            </a:pPr>
            <a:r>
              <a:t>popular_ranking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50566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热门排行表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50566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50566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book_title, monthly_borrow_times, total_borrow_times, statistics_month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577840"/>
            <a:ext cx="11064240" cy="45720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6052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C6E"/>
                </a:solidFill>
                <a:latin typeface="Microsoft YaHei"/>
              </a:defRPr>
            </a:pPr>
            <a:r>
              <a:t>🌱 seed_data.sql 包含 7张表 × 20条 = 140条测试数据，可直接初始化 MySQL 8.0 · library_db 数据库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数据库设计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16  项目亮点与总结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40080"/>
            <a:ext cx="146304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45720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🏗️ 前后端分离架构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Vue 3 前端 + Java Servlet 后端通过 RESTful API 解耦，职责清晰，便于团队并行开发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36192"/>
            <a:ext cx="45720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⚡ 现代化前端工程化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393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Vite 8 极速构建 + Vue 3 Composition API + Pinia + Vue Router 5，组件化按需加载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57984"/>
            <a:ext cx="45720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579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🔌 统一 API 工厂模式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createApi(path) 一行代码注册7个模块标准 CRUD，消除重复代码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9776"/>
            <a:ext cx="45720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97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🗄️ 分层后端设计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Entity → DAO → Service → Servlet 四层架构，职责单一，支持测试和复用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01568"/>
            <a:ext cx="45720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015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🔄 完整图书借阅闭环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393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图书入库 → 分类配置 → 读者注册 → 借书/还书 → 逾期罚款 → 评价 → 排行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45720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📊 泛型分页封装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61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PageResult&lt;T&gt; 统一分页响应格式，所有列表查询共用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45152"/>
            <a:ext cx="45720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451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🔒 全局跨域与编码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8289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CorsFilter + EncodingFilter 全局生效，无需在每个Servlet重复处理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66944"/>
            <a:ext cx="45720" cy="5029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2669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🌱 丰富的种子数据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046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7表 × 20条 = 140条精心设计的测试数据，真实场景覆盖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6052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📌  15+ Vue 组件  |  22 条路由  |  7 个 API 模块  |  9 个 Java 实体  |  7 个 Servlet  |  7 组 DAO/Service  |  7 张 MySQL 表  |  140 条测试数据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图书借阅管理系统  |  项目亮点与总结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890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0"/>
              </a:spcAft>
              <a:defRPr sz="1600" b="0">
                <a:solidFill>
                  <a:srgbClr val="CCDDFF"/>
                </a:solidFill>
                <a:latin typeface="Microsoft YaHei"/>
              </a:defRPr>
            </a:pPr>
            <a:r>
              <a:t>📚 图书借阅管理系统</a:t>
            </a:r>
          </a:p>
          <a:p>
            <a:pPr>
              <a:spcAft>
                <a:spcPts val="1120"/>
              </a:spcAft>
              <a:defRPr sz="1600" b="0">
                <a:solidFill>
                  <a:srgbClr val="CCDDFF"/>
                </a:solidFill>
                <a:latin typeface="Microsoft YaHei"/>
              </a:defRPr>
            </a:pPr>
            <a:r>
              <a:t>前端项目：E:\vue\library-vue</a:t>
            </a:r>
          </a:p>
          <a:p>
            <a:pPr>
              <a:spcAft>
                <a:spcPts val="1120"/>
              </a:spcAft>
              <a:defRPr sz="1600" b="0">
                <a:solidFill>
                  <a:srgbClr val="CCDDFF"/>
                </a:solidFill>
                <a:latin typeface="Microsoft YaHei"/>
              </a:defRPr>
            </a:pPr>
            <a:r>
              <a:t>后端项目：D:\javapocter\library-management</a:t>
            </a:r>
          </a:p>
          <a:p>
            <a:pPr>
              <a:spcAft>
                <a:spcPts val="1120"/>
              </a:spcAft>
              <a:defRPr sz="1600" b="0">
                <a:solidFill>
                  <a:srgbClr val="CCDDFF"/>
                </a:solidFill>
                <a:latin typeface="Microsoft YaHei"/>
              </a:defRPr>
            </a:pPr>
            <a:r>
              <a:t>数据库：MySQL 8.0 · library_db</a:t>
            </a:r>
          </a:p>
          <a:p>
            <a:pPr>
              <a:spcAft>
                <a:spcPts val="1120"/>
              </a:spcAft>
              <a:defRPr sz="1600" b="0">
                <a:solidFill>
                  <a:srgbClr val="CCDDFF"/>
                </a:solidFill>
                <a:latin typeface="Microsoft YaHei"/>
              </a:defRPr>
            </a:pPr>
            <a:r>
              <a:t>API: http://localhost:8080/library_management_war/api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