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📚 图书借阅管理系统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90FF"/>
                </a:solidFill>
                <a:latin typeface="Microsoft YaHei"/>
              </a:defRPr>
            </a:pPr>
            <a:r>
              <a:t>课程设计答辩汇报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1800" b="0">
                <a:solidFill>
                  <a:srgbClr val="CCDDFF"/>
                </a:solidFill>
                <a:latin typeface="Microsoft YaHei"/>
              </a:defRPr>
            </a:pPr>
            <a:r>
              <a:t>前端：Vue 3 + Vite + Pinia + Axios</a:t>
            </a:r>
          </a:p>
          <a:p>
            <a:pPr>
              <a:spcAft>
                <a:spcPts val="1260"/>
              </a:spcAft>
              <a:defRPr sz="1800" b="0">
                <a:solidFill>
                  <a:srgbClr val="CCDDFF"/>
                </a:solidFill>
                <a:latin typeface="Microsoft YaHei"/>
              </a:defRPr>
            </a:pPr>
            <a:r>
              <a:t>后端：Java + Servlet + Maven + MySQL</a:t>
            </a:r>
          </a:p>
          <a:p>
            <a:pPr>
              <a:spcAft>
                <a:spcPts val="1260"/>
              </a:spcAft>
              <a:defRPr sz="1800" b="0">
                <a:solidFill>
                  <a:srgbClr val="CCDDFF"/>
                </a:solidFill>
                <a:latin typeface="Microsoft YaHei"/>
              </a:defRPr>
            </a:pPr>
            <a:r>
              <a:t>架构：前后端分离 · RESTful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小组成员：待填写  |  指导教师：待填写  |  答辩日期：2026年7月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01  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🎯 开发背景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传统图书馆管理依赖人工登记，效率低下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借阅数据难以统计，容易出现差错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罚款计算繁琐，管理成本高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读者无法方便地查询图书信息和评价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📌 开发目标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实现图书借阅全流程数字化管理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提供图书、读者、借阅、罚款一站式操作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前后端分离架构，便于维护和扩展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支持模糊搜索和分页查询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77240"/>
            <a:ext cx="5303520" cy="3657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🛠️ 技术选型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463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371600"/>
            <a:ext cx="38404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Vue 3 + Vite 8 + Pinia + Axios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1463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965960"/>
            <a:ext cx="38404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Java 8 + Servlet 4.0 + Maven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1463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560320"/>
            <a:ext cx="38404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MySQL 8.0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1463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开发工具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3154680"/>
            <a:ext cx="38404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VS Code + IntelliJ IDEA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1463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8404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服务器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749039"/>
            <a:ext cx="38404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840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Tomcat 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343400"/>
            <a:ext cx="1463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通信方式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343400"/>
            <a:ext cx="38404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RESTful API · 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02  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🔍 功能性需求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图书管理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支持图书信息的增删改查，按书名/作者/ISBN模糊搜索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21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读者管理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677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管理读者信息，控制最大可借数量，支持多条件搜索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61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借阅管理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077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记录借书/还书操作，自动跟踪借出/已还/逾期状态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39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分类管理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4787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管理图书分类，配置各类别的可借天数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41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77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逾期罚款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记录逾期天数与罚款金额，管理缴纳状态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图书评价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28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读者可对图书评分和撰写评价内容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12079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218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5779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热门排行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6811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统计图书月借阅和总借阅次数，生成排行榜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777240"/>
            <a:ext cx="5303520" cy="3657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📋 非功能性需求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响应时间：页面操作响应 &lt; 2秒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并发支持：支持多用户同时操作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数据一致性：借阅数据准确可靠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界面友好：简洁清晰的 UI 设计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可维护性：前后端分离，代码结构清晰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可扩展性：模块化设计，便于增加新功能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跨域支持：前后端分离下的 CORS 处理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03  系统设计 — 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5720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890FF"/>
                </a:solidFill>
                <a:latin typeface="Microsoft YaHei"/>
              </a:defRPr>
            </a:pPr>
            <a:r>
              <a:t>🖥️  前端展示层 (Vue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页面组件 · 路由 · 状态管理 · Axios HTTP 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⬇  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45720" cy="10058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1106424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88"/>
                </a:solidFill>
                <a:latin typeface="Microsoft YaHei"/>
              </a:defRPr>
            </a:pPr>
            <a:r>
              <a:t>⬆️  RESTful API (JSON)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GET / POST / PUT / DELETE · 跨域支持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⬇  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45720" cy="10058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1106424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2C41A"/>
                </a:solidFill>
                <a:latin typeface="Microsoft YaHei"/>
              </a:defRPr>
            </a:pPr>
            <a:r>
              <a:t>⚙️  后端业务层 (Java Servlet)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Servlet → Service → DAO · 四层架构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⬇  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45720" cy="10058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6424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8C16"/>
                </a:solidFill>
                <a:latin typeface="Microsoft YaHei"/>
              </a:defRPr>
            </a:pPr>
            <a:r>
              <a:t>🗄️  数据存储层 (MySQL 8.0)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7张业务表 · JDBC 连接 · 分页+模糊搜索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212080"/>
            <a:ext cx="11064240" cy="73152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前后端分离：Vue 3 前端独立运行于 3000 端口，Java 后端运行于 8080 端口，通过 Axios HTTP 通信</a:t>
            </a:r>
          </a:p>
          <a:p>
            <a:pPr>
              <a:spcAft>
                <a:spcPts val="479"/>
              </a:spcAft>
              <a:defRPr sz="1200" b="1">
                <a:solidFill>
                  <a:srgbClr val="1890FF"/>
                </a:solidFill>
                <a:latin typeface="Microsoft YaHei"/>
              </a:defRPr>
            </a:pPr>
            <a:r>
              <a:t>API 路径：http://localhost:8080/library_management_war/api  ·  7 个 RESTful 接口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03  系统设计 — 数据库设计 (7张表)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表名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04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8046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主要字段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图书表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2801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author, isbn, category, stock_quantity, storage_location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01368"/>
            <a:ext cx="11430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读者表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3852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full_name, student_id, class_name, max_borrow_count, borrowed_count, contact_number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59736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6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borrow_record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596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借阅记录表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596896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reader_name, borrow_date, due_date, actual_return_date,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18104"/>
            <a:ext cx="11430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552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book_category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552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分类表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55264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category_name, allowed_borrow_days, 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76472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overdue_fine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913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逾期罚款表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9136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reader_name, book_title, overdue_days, fine_amount, payment_status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11430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book_review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图书评价表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5720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reviewer_name, rating, review_content, review_time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93208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30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popular_ranking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230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热门排行表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2303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monthly_borrow_times, total_borrow_times, statistics_month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760720"/>
            <a:ext cx="11430000" cy="3200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881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🌱 种子数据：seed_data.sql 包含 7张表 × 20条 = 140条测试数据  |  数据库：MySQL 8.0 · library_db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03  系统设计 — 业务设计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🔄 核心业务流程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① 管理员添加图书分类 → 配置可借天数</a:t>
            </a:r>
          </a:p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② 管理员录入图书信息 → 设置库存数量</a:t>
            </a:r>
          </a:p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③ 管理员注册读者信息 → 设置可借额度</a:t>
            </a:r>
          </a:p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④ 读者借书 → 创建借阅记录 → 状态"借出"</a:t>
            </a:r>
          </a:p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⑤ 读者还书 → 更新记录 → 判断是否逾期</a:t>
            </a:r>
          </a:p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⑥ 逾期 → 自动计算罚款 → 记录罚款信息</a:t>
            </a:r>
          </a:p>
          <a:p>
            <a:pPr>
              <a:spcAft>
                <a:spcPts val="83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⑦ 读者对图书评分评价 → 更新排行榜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77240"/>
            <a:ext cx="5303520" cy="3657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📋 业务规则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45720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读者可借数量控制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max_borrow_count 限制最大借书量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3035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45720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分类借阅天数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不同分类可配置不同的借阅天数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45720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逾期罚款计算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逾期天数 × 0.5元/天 = 罚款金额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3035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45720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借阅状态流转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借出 → 已还 / 逾期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63440"/>
            <a:ext cx="53035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63440"/>
            <a:ext cx="45720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库存管理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借出扣减库存，还书增加库存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03  系统设计 — 功能模块划分（7大模块）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图书管理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057400"/>
            <a:ext cx="1280160" cy="18288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增删改查 + 模糊搜索 + 分页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读者管理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057400"/>
            <a:ext cx="1280160" cy="18288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194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增删改查 + 可借数量控制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97280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借阅记录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57400"/>
            <a:ext cx="1280160" cy="18288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194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借书/还书 + 状态跟踪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097280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97280"/>
            <a:ext cx="2743200" cy="4572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图书分类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2057400"/>
            <a:ext cx="1280160" cy="18288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194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分类管理 + 可借天数配置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291839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291839"/>
            <a:ext cx="2743200" cy="45720"/>
          </a:xfrm>
          <a:prstGeom prst="rect">
            <a:avLst/>
          </a:prstGeom>
          <a:solidFill>
            <a:srgbClr val="726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474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9319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逾期罚款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251959"/>
            <a:ext cx="1280160" cy="18288"/>
          </a:xfrm>
          <a:prstGeom prst="rect">
            <a:avLst/>
          </a:prstGeom>
          <a:solidFill>
            <a:srgbClr val="726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891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逾期天数 + 金额 + 缴纳状态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3291839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3291839"/>
            <a:ext cx="2743200" cy="4572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474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39319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图书评价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4251959"/>
            <a:ext cx="1280160" cy="18288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3891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评分(1-5) + 评价内容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291839"/>
            <a:ext cx="27432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291839"/>
            <a:ext cx="2743200" cy="45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474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9319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热门排行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4251959"/>
            <a:ext cx="1280160" cy="182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3891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月/总借阅次数统计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303520"/>
            <a:ext cx="11430000" cy="64008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3949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统一设计：每个模块均采用 List（列表页）+ Form（表单页）双页面模式，共用 Pagination 分页组件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04  系统实现 — 📖 图书管理模块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36576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📋 Book 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实体类: Book.java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API路径: /api/book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搜索字段: 书名 / 作者 / ISBN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📁 实体字段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book_title(书名)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author(作者)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isbn(编号)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category(分类)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stock_quantity(库存)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storage_location(位置)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77724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77724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🖥️ 前端实现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1887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BookList.vue: fetchList() / handleSearch() / handleDelete() / handlePageChange()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BookForm.vue: fetchData(id) / handleSubmit() → 新增/编辑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777240"/>
            <a:ext cx="34747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77724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795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⚙️ 后端实现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188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BookServlet: doGet/doPost/doPut/doDelete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BookServiceImpl → BookDaoImpl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7406640" cy="23774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740664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58444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💡 模块作用与完成工作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完成图书信息的增删改查、库存管理、存放位置管理、多条件模糊搜索和分页展示，支持按书名/作者/ISBN快速检索。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系统实现 — 图书管理模块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  系统实现 — 👤 读者管理模块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36576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📋 Reader 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实体类: Reader.java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API路径: /api/reader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搜索字段: 姓名 / 学号 / 班级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📁 实体字段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full_name(姓名)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student_id(学号)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class_name(班级)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max_borrow_count(最大可借)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borrowed_count(已借)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contact_number(电话)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77724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77724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🖥️ 前端实现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1887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ReaderList.vue: fetchList() / handleSearch() / handleDelete() / handlePageChange()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ReaderForm.vue: fetchData(id) / handleSubmit() → 新增/编辑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777240"/>
            <a:ext cx="34747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77724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795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⚙️ 后端实现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188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ReaderServlet: doGet/doPost/doPut/doDelete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ReaderServiceImpl → ReaderDaoImpl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7406640" cy="23774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740664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58444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💡 模块作用与完成工作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完成读者信息的增删改查、学号班级管理、可借数量额度控制和已借数量跟踪，支持批量搜索。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系统实现 — 读者管理模块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  系统实现 — 🔄 借阅记录模块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36576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3200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📋 BorrowRecord 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实体类: BorrowRecord.java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API路径: /api/borrow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搜索字段: 书名 / 读者姓名 / 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📁 实体字段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book_title(书名)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reader_name(读者)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borrow_date(借阅日)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due_date(应还日)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actual_return_date(实际归还)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status(状态)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77724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77724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🖥️ 前端实现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1887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BorrowList.vue: fetchList() / handleSearch() / handleDelete() / handlePageChange()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BorrowForm.vue: fetchData(id) / handleSubmit() → status: 借出/已还/逾期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777240"/>
            <a:ext cx="34747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77724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795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⚙️ 后端实现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188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BorrowRecordServlet: doGet/doPost/doPut/doDelete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BorrowRecordServiceImpl → BorrowRecordDaoImpl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7406640" cy="23774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740664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58444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💡 模块作用与完成工作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完成借书/还书流程管理，跟踪借出/已还/逾期三种状态，记录借阅日期和应还日期。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系统实现 — 借阅记录模块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  系统实现 — 📂 图书分类模块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36576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657600" cy="32004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📋 BookCategory 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实体类: BookCategory.java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API路径: /api/category</a:t>
            </a:r>
          </a:p>
          <a:p>
            <a:pPr>
              <a:spcAft>
                <a:spcPts val="55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搜索字段: 分类名称 / 描述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📁 实体字段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category_name(分类名称)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allowed_borrow_days(可借天数)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description(描述)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77724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77724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79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🖥️ 前端实现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1887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CategoryList.vue: fetchList() / handleSearch() / handleDelete() / handlePageChange()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CategoryForm.vue: fetchData(id) / handleSubmit() → 新增/编辑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777240"/>
            <a:ext cx="34747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77724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795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⚙️ 后端实现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1887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BookCategoryServlet: doGet/doPost/doPut/doDelete</a:t>
            </a:r>
          </a:p>
          <a:p>
            <a:pPr>
              <a:spcAft>
                <a:spcPts val="5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BookCategoryServiceImpl → BookCategoryDaoImpl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7406640" cy="23774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740664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584448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💡 模块作用与完成工作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完成图书分类的增删改查，为每种类别配置不同的可借天数，支持分类描述说明。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系统实现 — 图书分类模块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04  系统实现 — 关键技术实现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53035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🔌 统一 API 工厂封装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// createApi(path) 生成5个标准CRUD方法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function createApi(path) {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return {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list(params)       → GET    path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getById(id)        → GET    path/{id}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add(data)          → POST   path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update(id, data)   → PUT    path/{id}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delete(id)         → DELETE path/{id}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9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// 一行注册7个模块 — 消除重复代码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777240"/>
            <a:ext cx="58521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777240"/>
            <a:ext cx="585216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8046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🗄️ 后端四层架构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887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Servlet 层 → @WebServlet("/api/xxx") 接收HTTP请求/响应JSON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↓                            Service 层 → 业务逻辑编排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↓                            DAO 层 → JDBC 数据库操作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↓                            Entity 层 → 数据模型/PageResult/ResponseData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每层职责单一：控制层只处理请求响应，业务层只处理逻辑，</a:t>
            </a:r>
          </a:p>
          <a:p>
            <a:pPr>
              <a:spcAft>
                <a:spcPts val="439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数据层只操作数据库，实体层只定义数据结构。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91840"/>
            <a:ext cx="53035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5303520" cy="3200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9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泛型分页 + 模糊搜索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PageResult&lt;T&gt; 泛型分页类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public class PageResult&lt;T&gt; {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List&lt;T&gt; data;      // 当前页数据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int page;           // 当前页码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int limit;          // 每页条数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int total;          // 总记录数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int totalPages;     // 总页数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DAO 层动态SQL拼接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book where 1=1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and (book_title like ? or author like 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order by id desc limit ? offset 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count(*) 查询总数 → 计算 totalPages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291840"/>
            <a:ext cx="585216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291840"/>
            <a:ext cx="5852160" cy="32004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192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🔒 跨域处理 + 数据库工具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7033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CorsFilter 跨域过滤器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resp.setHeader("Access-Control-Allow-Origin", "*")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resp.setHeader("Access-Control-Allow-Methods",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"GET, POST, PUT, DELETE, OPTIONS")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DBUtils 数据库工具类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JDBC 连接管理 + 资源自动关闭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executeSQL() → 增删改操作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executeQuery() → 查询操作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closeDB() → 自动关闭 rs→pstmt→conn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统一响应格式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ResponseData { success, message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系统实现 — 关键技术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05  小组分工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804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姓名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804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8046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主要负责工作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188720"/>
            <a:ext cx="27432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353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353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890FF"/>
                </a:solidFill>
                <a:latin typeface="Microsoft YaHei"/>
              </a:defRPr>
            </a:pPr>
            <a:r>
              <a:t>前端开发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3533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Vue 3 页面开发、路由配置、API 封装、组件编写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11430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848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1920240"/>
            <a:ext cx="27432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084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待填写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084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890FF"/>
                </a:solidFill>
                <a:latin typeface="Microsoft YaHei"/>
              </a:defRPr>
            </a:pPr>
            <a:r>
              <a:t>后端开发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084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Servlet 编写、Service 实现、DAO 实现、数据库设计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51760"/>
            <a:ext cx="11430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163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2651760"/>
            <a:ext cx="27432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2816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待填写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890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8163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MySQL 表结构设计、seed_data.sql 种子数据编写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83280"/>
            <a:ext cx="114300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547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3383280"/>
            <a:ext cx="27432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547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待填写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547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890FF"/>
                </a:solidFill>
                <a:latin typeface="Microsoft YaHei"/>
              </a:defRPr>
            </a:pPr>
            <a:r>
              <a:t>文档与测试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5478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项目文档撰写、功能测试、接口调试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572000"/>
            <a:ext cx="11430000" cy="14630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📷 小组成员照片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20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（此处预留照片位置，答辩前请插入小组成员照片）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小组分工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06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8288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✅ 已完成工作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前端 7 大功能模块完整实现（15+ 组件）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后端 7 个 Servlet + 7 组 Service/DAO 完整实现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7 张数据库表设计 + 140 条种子数据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前后端联调通过，所有 CRUD 功能正常运行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分页 + 模糊搜索功能完整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CORS 跨域处理，前后端分离部署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统一 API 封装，减少重复代码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77240"/>
            <a:ext cx="5303520" cy="36576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804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🔧 不足与改进方向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目前未实现用户登录/权限控制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缺少统一的异常处理机制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可引入 Spring Boot 简化后端配置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可引入 MyBatis/MyBatis-Plus 简化 DAO 层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前端可引入 Element Plus 等 UI 库美化界面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可增加数据统计和可视化图表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▸ 可增加邮件/短信提醒功能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846320"/>
            <a:ext cx="11430000" cy="9144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通过本次课程设计，小组成员深入实践了前后端分离开发模式，掌握了 Vue 3 前端框架和 Java Servlet 后端开发技术，完成了图书借阅管理系统的完整开发流程，达到了课程设计的预期目标。在开发过程中加深了对软件工程、数据库设计、HTTP 协议等知识的理解。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感谢聆听  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890FF"/>
                </a:solidFill>
                <a:latin typeface="Microsoft YaHei"/>
              </a:defRPr>
            </a:pPr>
            <a:r>
              <a:t>恳请各位老师批评指正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图书借阅管理系统  |  答辩汇报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